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b13f3265d34efe" /><Relationship Type="http://schemas.openxmlformats.org/officeDocument/2006/relationships/extended-properties" Target="/docProps/app.xml" Id="Rdda2d081b9194d6b" /><Relationship Type="http://schemas.openxmlformats.org/officeDocument/2006/relationships/officeDocument" Target="/ppt/presentation.xml" Id="Rd42a3170197941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2673e1d6014291"/>
  </p:sldMasterIdLst>
  <p:notesMasterIdLst>
    <p:notesMasterId xmlns:r="http://schemas.openxmlformats.org/officeDocument/2006/relationships" r:id="R6b14599deed147f2"/>
  </p:notesMasterIdLst>
  <p:sldIdLst>
    <p:sldId xmlns:r="http://schemas.openxmlformats.org/officeDocument/2006/relationships" id="256" r:id="R2ef1a84f63c84379"/>
    <p:sldId xmlns:r="http://schemas.openxmlformats.org/officeDocument/2006/relationships" id="257" r:id="Re532d07c1992407a"/>
    <p:sldId xmlns:r="http://schemas.openxmlformats.org/officeDocument/2006/relationships" id="258" r:id="R00cd806cff5a413a"/>
    <p:sldId xmlns:r="http://schemas.openxmlformats.org/officeDocument/2006/relationships" id="259" r:id="R672e1c9d4daf45cc"/>
    <p:sldId xmlns:r="http://schemas.openxmlformats.org/officeDocument/2006/relationships" id="260" r:id="R256bfea1c9c84e75"/>
    <p:sldId xmlns:r="http://schemas.openxmlformats.org/officeDocument/2006/relationships" id="261" r:id="R306404fd1bb241eb"/>
    <p:sldId xmlns:r="http://schemas.openxmlformats.org/officeDocument/2006/relationships" id="262" r:id="R5dd12ee0280d4b0c"/>
    <p:sldId xmlns:r="http://schemas.openxmlformats.org/officeDocument/2006/relationships" id="263" r:id="R80a1c58748ec4398"/>
    <p:sldId xmlns:r="http://schemas.openxmlformats.org/officeDocument/2006/relationships" id="264" r:id="R08c16903e2b04d40"/>
    <p:sldId xmlns:r="http://schemas.openxmlformats.org/officeDocument/2006/relationships" id="265" r:id="Rfda65c30e5e74225"/>
    <p:sldId xmlns:r="http://schemas.openxmlformats.org/officeDocument/2006/relationships" id="266" r:id="R6601338f27a04be2"/>
    <p:sldId xmlns:r="http://schemas.openxmlformats.org/officeDocument/2006/relationships" id="267" r:id="Rabe29d14bbba4c45"/>
    <p:sldId xmlns:r="http://schemas.openxmlformats.org/officeDocument/2006/relationships" id="268" r:id="Rc60912f7453e40bb"/>
    <p:sldId xmlns:r="http://schemas.openxmlformats.org/officeDocument/2006/relationships" id="269" r:id="Rdaea3fa0a9424d81"/>
    <p:sldId xmlns:r="http://schemas.openxmlformats.org/officeDocument/2006/relationships" id="270" r:id="Raf9e2b4b250c4643"/>
    <p:sldId xmlns:r="http://schemas.openxmlformats.org/officeDocument/2006/relationships" id="271" r:id="Ra430f32ae37e45de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11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22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32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43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554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2658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199765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6877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b4bcb807a94a02" /><Relationship Type="http://schemas.openxmlformats.org/officeDocument/2006/relationships/slideMaster" Target="/ppt/slideMasters/slideMaster1.xml" Id="Re02673e1d6014291" /><Relationship Type="http://schemas.openxmlformats.org/officeDocument/2006/relationships/notesMaster" Target="/ppt/notesMasters/notesMaster1.xml" Id="R6b14599deed147f2" /><Relationship Type="http://schemas.openxmlformats.org/officeDocument/2006/relationships/presProps" Target="/ppt/presProps.xml" Id="R6d65341e66954b68" /><Relationship Type="http://schemas.openxmlformats.org/officeDocument/2006/relationships/viewProps" Target="/ppt/viewProps.xml" Id="Rb88ab8f3da154403" /><Relationship Type="http://schemas.openxmlformats.org/officeDocument/2006/relationships/tableStyles" Target="/ppt/tableStyles.xml" Id="R2219289369414b7d" /><Relationship Type="http://schemas.openxmlformats.org/officeDocument/2006/relationships/slide" Target="/ppt/slides/slide1.xml" Id="R2ef1a84f63c84379" /><Relationship Type="http://schemas.openxmlformats.org/officeDocument/2006/relationships/slide" Target="/ppt/slides/slide2.xml" Id="Re532d07c1992407a" /><Relationship Type="http://schemas.openxmlformats.org/officeDocument/2006/relationships/slide" Target="/ppt/slides/slide3.xml" Id="R00cd806cff5a413a" /><Relationship Type="http://schemas.openxmlformats.org/officeDocument/2006/relationships/slide" Target="/ppt/slides/slide4.xml" Id="R672e1c9d4daf45cc" /><Relationship Type="http://schemas.openxmlformats.org/officeDocument/2006/relationships/slide" Target="/ppt/slides/slide5.xml" Id="R256bfea1c9c84e75" /><Relationship Type="http://schemas.openxmlformats.org/officeDocument/2006/relationships/slide" Target="/ppt/slides/slide6.xml" Id="R306404fd1bb241eb" /><Relationship Type="http://schemas.openxmlformats.org/officeDocument/2006/relationships/slide" Target="/ppt/slides/slide7.xml" Id="R5dd12ee0280d4b0c" /><Relationship Type="http://schemas.openxmlformats.org/officeDocument/2006/relationships/slide" Target="/ppt/slides/slide8.xml" Id="R80a1c58748ec4398" /><Relationship Type="http://schemas.openxmlformats.org/officeDocument/2006/relationships/slide" Target="/ppt/slides/slide9.xml" Id="R08c16903e2b04d40" /><Relationship Type="http://schemas.openxmlformats.org/officeDocument/2006/relationships/slide" Target="/ppt/slides/slide10.xml" Id="Rfda65c30e5e74225" /><Relationship Type="http://schemas.openxmlformats.org/officeDocument/2006/relationships/slide" Target="/ppt/slides/slide11.xml" Id="R6601338f27a04be2" /><Relationship Type="http://schemas.openxmlformats.org/officeDocument/2006/relationships/slide" Target="/ppt/slides/slide12.xml" Id="Rabe29d14bbba4c45" /><Relationship Type="http://schemas.openxmlformats.org/officeDocument/2006/relationships/slide" Target="/ppt/slides/slide13.xml" Id="Rc60912f7453e40bb" /><Relationship Type="http://schemas.openxmlformats.org/officeDocument/2006/relationships/slide" Target="/ppt/slides/slide14.xml" Id="Rdaea3fa0a9424d81" /><Relationship Type="http://schemas.openxmlformats.org/officeDocument/2006/relationships/slide" Target="/ppt/slides/slide15.xml" Id="Raf9e2b4b250c4643" /><Relationship Type="http://schemas.openxmlformats.org/officeDocument/2006/relationships/slide" Target="/ppt/slides/slide16.xml" Id="Ra430f32ae37e45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153de264be42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5c805b1db04281" /><Relationship Type="http://schemas.openxmlformats.org/officeDocument/2006/relationships/notesMaster" Target="/ppt/notesMasters/notesMaster1.xml" Id="R9bfdc4866c1e43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8af4aa8315a41e8" /><Relationship Type="http://schemas.openxmlformats.org/officeDocument/2006/relationships/notesMaster" Target="/ppt/notesMasters/notesMaster1.xml" Id="Rcf4dd6f2236c4c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57d4f299234609" /><Relationship Type="http://schemas.openxmlformats.org/officeDocument/2006/relationships/notesMaster" Target="/ppt/notesMasters/notesMaster1.xml" Id="Raa4f438ce32b43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a37ddcdb504293" /><Relationship Type="http://schemas.openxmlformats.org/officeDocument/2006/relationships/notesMaster" Target="/ppt/notesMasters/notesMaster1.xml" Id="R2b3959dd50ab4f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30b23f27944826" /><Relationship Type="http://schemas.openxmlformats.org/officeDocument/2006/relationships/notesMaster" Target="/ppt/notesMasters/notesMaster1.xml" Id="R58c284464f064e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7ae37182174416" /><Relationship Type="http://schemas.openxmlformats.org/officeDocument/2006/relationships/notesMaster" Target="/ppt/notesMasters/notesMaster1.xml" Id="R6decbe0166c848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6ced1c13ca4ed4" /><Relationship Type="http://schemas.openxmlformats.org/officeDocument/2006/relationships/notesMaster" Target="/ppt/notesMasters/notesMaster1.xml" Id="Rc45484a312ea47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46be7437864b75" /><Relationship Type="http://schemas.openxmlformats.org/officeDocument/2006/relationships/notesMaster" Target="/ppt/notesMasters/notesMaster1.xml" Id="R218ed14511f64b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65170a0db249b4" /><Relationship Type="http://schemas.openxmlformats.org/officeDocument/2006/relationships/notesMaster" Target="/ppt/notesMasters/notesMaster1.xml" Id="R2e1af11f107445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dfd9959fb5421c" /><Relationship Type="http://schemas.openxmlformats.org/officeDocument/2006/relationships/notesMaster" Target="/ppt/notesMasters/notesMaster1.xml" Id="R614d122a2e94409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bec2767b434f24" /><Relationship Type="http://schemas.openxmlformats.org/officeDocument/2006/relationships/notesMaster" Target="/ppt/notesMasters/notesMaster1.xml" Id="Rf417d6704e4e4e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2a3ff5b441142ab" /><Relationship Type="http://schemas.openxmlformats.org/officeDocument/2006/relationships/notesMaster" Target="/ppt/notesMasters/notesMaster1.xml" Id="Rb6695c9380724c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12c3e68f8e94fef" /><Relationship Type="http://schemas.openxmlformats.org/officeDocument/2006/relationships/notesMaster" Target="/ppt/notesMasters/notesMaster1.xml" Id="Rb3a700b78a0446a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76ab35becc34fe2" /><Relationship Type="http://schemas.openxmlformats.org/officeDocument/2006/relationships/notesMaster" Target="/ppt/notesMasters/notesMaster1.xml" Id="Rc7d33871b6f4428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df16c6e50d54340" /><Relationship Type="http://schemas.openxmlformats.org/officeDocument/2006/relationships/notesMaster" Target="/ppt/notesMasters/notesMaster1.xml" Id="Ra42b4254371047b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83851b5f8e144f1" /><Relationship Type="http://schemas.openxmlformats.org/officeDocument/2006/relationships/notesMaster" Target="/ppt/notesMasters/notesMaster1.xml" Id="Ra50205abd4d344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0:00–0:20.</a:t>
            </a:r>
          </a:p>
          <a:p xmlns:a="http://schemas.openxmlformats.org/drawingml/2006/main">
            <a:r>
              <a:t>Название команды и полное название задачи сверены с предоставленным PDF.</a:t>
            </a:r>
          </a:p>
          <a:p xmlns:a="http://schemas.openxmlformats.org/drawingml/2006/main">
            <a:r>
              <a:t>Источник команды: пользовательский PDF, SHA-256 c5d97019f9177ec138358fbdec1b204d136a67b6c24743e371bd6847c43a1bc5.</a:t>
            </a:r>
          </a:p>
          <a:p xmlns:a="http://schemas.openxmlformats.org/drawingml/2006/main">
            <a:r>
              <a:t>Источник задачи: requirements/ФСП спец. трек ТЗ.pdf, SHA-256 a39ec8ccb300f4d06c7408b7ab13eff6f71610e86cc0e6d6650bc664f656eba1.</a:t>
            </a:r>
          </a:p>
          <a:p xmlns:a="http://schemas.openxmlformats.org/drawingml/2006/main">
            <a:r>
              <a:t>Оформление: официальный PPTX-шаблон ЛЦТ 2026, SHA-256 d2506c0aeb4fca12b6febb242e7d4e7fafc6c4c50434d3b671fc9d7251eb7345.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0:20–0:55.</a:t>
            </a:r>
          </a:p>
          <a:p xmlns:a="http://schemas.openxmlformats.org/drawingml/2006/main">
            <a:r>
              <a:t>Слайд соответствует обязательному блоку официального шаблона. Личные телефоны и Telegram участников не включены.</a:t>
            </a:r>
          </a:p>
          <a:p xmlns:a="http://schemas.openxmlformats.org/drawingml/2006/main">
            <a:r>
              <a:t>Источник названия, логотипа и сведений о команде: пользовательский PDF, SHA-256 c5d97019f9177ec138358fbdec1b204d136a67b6c24743e371bd6847c43a1bc5.</a:t>
            </a:r>
          </a:p>
          <a:p xmlns:a="http://schemas.openxmlformats.org/drawingml/2006/main">
            <a:r>
              <a:t>Источники продукта: docs/34-documentation.md; docs/50-completion-conformance.md.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0:55–1:15.</a:t>
            </a:r>
            <a:endParaRPr/>
          </a:p>
          <a:p xmlns:a="http://schemas.openxmlformats.org/drawingml/2006/main">
            <a:r>
              <a:t>Имена, роли и фотографии перенесены из предоставленного PDF. Телефоны и Telegram из PDF сознательно не включены.</a:t>
            </a:r>
            <a:endParaRPr/>
          </a:p>
          <a:p xmlns:a="http://schemas.openxmlformats.org/drawingml/2006/main">
            <a:r>
              <a:t>Источник: пользовательский PDF, SHA-256 c5d97019f9177ec138358fbdec1b204d136a67b6c24743e371bd6847c43a1bc5.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1:15–1:50.</a:t>
            </a:r>
            <a:endParaRPr/>
          </a:p>
          <a:p xmlns:a="http://schemas.openxmlformats.org/drawingml/2006/main">
            <a:r>
              <a:t>История команды перенесена дословно по смыслу из предоставленного PDF. Формулировка о частной схеме исправлена на точное ограничение продукта: private oracle не раскрывается.</a:t>
            </a:r>
            <a:endParaRPr/>
          </a:p>
          <a:p xmlns:a="http://schemas.openxmlformats.org/drawingml/2006/main">
            <a:r>
              <a:t>Источник истории команды: пользовательский PDF, SHA-256 c5d97019f9177ec138358fbdec1b204d136a67b6c24743e371bd6847c43a1bc5.</a:t>
            </a:r>
            <a:endParaRPr/>
          </a:p>
          <a:p xmlns:a="http://schemas.openxmlformats.org/drawingml/2006/main">
            <a:r>
              <a:t>Источники продуктовых ограничений: requirements/ФСП спец. трек ТЗ.pdf; requirements/qa-written-fsp-2026.md; docs/56-technical-report.md.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1:50–2:25.</a:t>
            </a:r>
          </a:p>
          <a:p xmlns:a="http://schemas.openxmlformats.org/drawingml/2006/main">
            <a:r>
              <a:t>HTTPS-показ жюри: https://fsptest.kolesnikovny.ru. Доступ передаётся отдельно; полный локальный контур отличается от jury-режима. Юридическая сертификация не заявляется.</a:t>
            </a:r>
          </a:p>
          <a:p xmlns:a="http://schemas.openxmlformats.org/drawingml/2006/main">
            <a:r>
              <a:t>Источники: docs/56-technical-report.md; docs/44-deployment-and-operations.md; docs/50-completion-conformance.md; docs/60-jury-submission.md; docs/61-temporary-domain-stand.md.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2:25–3:00.</a:t>
            </a:r>
          </a:p>
          <a:p xmlns:a="http://schemas.openxmlformats.org/drawingml/2006/main">
            <a:r>
              <a:t>Контакт не раскрывается до принятия приглашения или самостоятельного отклика.</a:t>
            </a:r>
          </a:p>
          <a:p xmlns:a="http://schemas.openxmlformats.org/drawingml/2006/main">
            <a:r>
              <a:t>Источники: docs/56-technical-report.md; docs/34-documentation.md; requirements/traceability.md.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3:00–3:35.</a:t>
            </a:r>
            <a:endParaRPr/>
          </a:p>
          <a:p xmlns:a="http://schemas.openxmlformats.org/drawingml/2006/main">
            <a:r>
              <a:t>Это реальные снимки актуального локального стенда. Технологии и практика не повышают глобальный грейд.</a:t>
            </a:r>
            <a:endParaRPr/>
          </a:p>
          <a:p xmlns:a="http://schemas.openxmlformats.org/drawingml/2006/main">
            <a:r>
              <a:t>Изображения: docs/assets/screenshots/landing.png; docs/assets/screenshots/candidate-profile.png.</a:t>
            </a:r>
            <a:endParaRPr/>
          </a:p>
          <a:p xmlns:a="http://schemas.openxmlformats.org/drawingml/2006/main">
            <a:r>
              <a:t>Источники правил: docs/56-technical-report.md; docs/34-documentation.md.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3:35–4:10.</a:t>
            </a:r>
            <a:endParaRPr/>
          </a:p>
          <a:p xmlns:a="http://schemas.openxmlformats.org/drawingml/2006/main">
            <a:r>
              <a:t>Score — объяснимое соответствие запросу, а не прогноз найма.</a:t>
            </a:r>
            <a:endParaRPr/>
          </a:p>
          <a:p xmlns:a="http://schemas.openxmlformats.org/drawingml/2006/main">
            <a:r>
              <a:t>Изображения: docs/assets/screenshots/employer-search.png; docs/assets/screenshots/privacy.png.</a:t>
            </a:r>
            <a:endParaRPr/>
          </a:p>
          <a:p xmlns:a="http://schemas.openxmlformats.org/drawingml/2006/main">
            <a:r>
              <a:t>Источники: docs/56-technical-report.md; docs/34-documentation.md; requirements/qa-written-fsp-2026.md (B8).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4:10–4:45.</a:t>
            </a:r>
            <a:endParaRPr/>
          </a:p>
          <a:p xmlns:a="http://schemas.openxmlformats.org/drawingml/2006/main">
            <a:r>
              <a:t>Runner не получает Docker socket, файлы NAS и основную БД. SQL здесь — SQLite.</a:t>
            </a:r>
            <a:endParaRPr/>
          </a:p>
          <a:p xmlns:a="http://schemas.openxmlformats.org/drawingml/2006/main">
            <a:r>
              <a:t>Изображения: docs/assets/screenshots/question-bank.png; docs/assets/screenshots/practice.png.</a:t>
            </a:r>
            <a:endParaRPr/>
          </a:p>
          <a:p xmlns:a="http://schemas.openxmlformats.org/drawingml/2006/main">
            <a:r>
              <a:t>Источники: docs/56-technical-report.md; docs/44-deployment-and-operations.md.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4:45–5:25.</a:t>
            </a:r>
          </a:p>
          <a:p xmlns:a="http://schemas.openxmlformats.org/drawingml/2006/main">
            <a:r>
              <a:t>Raw pass достиг порога на первой форме; сервер потребовал вторую, и ни один перенос не подтвердился.</a:t>
            </a:r>
          </a:p>
          <a:p xmlns:a="http://schemas.openxmlformats.org/drawingml/2006/main">
            <a:r>
              <a:t>Это диагностика двух стратегий на синтетике, не доказательство невозможности списывания и не независимая калибровка Junior/Middle.</a:t>
            </a:r>
          </a:p>
          <a:p xmlns:a="http://schemas.openxmlformats.org/drawingml/2006/main">
            <a:r>
              <a:t>Источники: docs/assessment-v6-results.json; docs/56-technical-report.md; docs/50-completion-conformance.md.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5:25–6:05.</a:t>
            </a:r>
          </a:p>
          <a:p xmlns:a="http://schemas.openxmlformats.org/drawingml/2006/main">
            <a:r>
              <a:t>На стенде жюри посетитель выбирает роль кандидата или работодателя, задаёт собственный пароль от 12 символов и сохраняет серверный логин jury-…@example.invalid. Реальные ФИО, email, SMTP и внешняя проверка почты не используются.</a:t>
            </a:r>
          </a:p>
          <a:p xmlns:a="http://schemas.openxmlformats.org/drawingml/2006/main">
            <a:r>
              <a:t>Полный локальный mock сохраняет сценарий ТЗ с подтверждением через mock-почту. Открытая metadata OIDC не является контрактом API достижений и не разрешает использовать чужой client.</a:t>
            </a:r>
          </a:p>
          <a:p xmlns:a="http://schemas.openxmlformats.org/drawingml/2006/main">
            <a:r>
              <a:t>Источники: docs/56-technical-report.md; docs/44-deployment-and-operations.md; tests/test_mailer.py.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6:05–6:45.</a:t>
            </a:r>
          </a:p>
          <a:p xmlns:a="http://schemas.openxmlformats.org/drawingml/2006/main">
            <a:r>
              <a:t>Четыре типа генерации, save/publish, попытка кандидата и advisory review прошли через живой NAS API.</a:t>
            </a:r>
          </a:p>
          <a:p xmlns:a="http://schemas.openxmlformats.org/drawingml/2006/main">
            <a:r>
              <a:t>Основной продукт работает без локальной LLM; адаптеры обучения v1/v2 отклонены.</a:t>
            </a:r>
          </a:p>
          <a:p xmlns:a="http://schemas.openxmlformats.org/drawingml/2006/main">
            <a:r>
              <a:t>Источники: docs/45-ai-answer-check-and-training-package.md; docs/release/2026-10-11-completion/nas-live-api.json.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6:45–7:25.</a:t>
            </a:r>
          </a:p>
          <a:p xmlns:a="http://schemas.openxmlformats.org/drawingml/2006/main">
            <a:r>
              <a:t>Схема показывает текущие компоненты: FastAPI, PostgreSQL/SQLite, отдельный VM-runner, локальный mock ФСП ID, локальную demo-почту и опциональный LLM-сервер.</a:t>
            </a:r>
          </a:p>
          <a:p xmlns:a="http://schemas.openxmlformats.org/drawingml/2006/main">
            <a:r>
              <a:t>Проверены 401 без ключа, 422 для пустого ввода и полный живой API-сценарий.</a:t>
            </a:r>
          </a:p>
          <a:p xmlns:a="http://schemas.openxmlformats.org/drawingml/2006/main">
            <a:r>
              <a:t>HTTPS-показ: https://fsptest.kolesnikovny.ru. Российский VPS завершает TLS и передаёт запросы по ограниченному SSH-туннелю на NAS. В jury-режиме отключены регистрация, почта, PDF-import, mock-ФСП и LLM; полный путь проверен локально.</a:t>
            </a:r>
          </a:p>
          <a:p xmlns:a="http://schemas.openxmlformats.org/drawingml/2006/main">
            <a:r>
              <a:t>Источники: docs/assets/diagrams/diagram_components.svg; docs/44-deployment-and-operations.md; docs/release/2026-10-11-completion/connect-nas-model-tests.json; docs/60-jury-submission.md; docs/61-temporary-domain-stand.md.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7:25–8:05.</a:t>
            </a:r>
          </a:p>
          <a:p xmlns:a="http://schemas.openxmlformats.org/drawingml/2006/main">
            <a:r>
              <a:t>Это зафиксированные результаты базового выпуска до подготовки отдельного публичного контура для жюри.</a:t>
            </a:r>
          </a:p>
          <a:p xmlns:a="http://schemas.openxmlformats.org/drawingml/2006/main">
            <a:r>
              <a:t>SQLite: 410 passed, 2 skipped; PostgreSQL: 411 passed, 1 skipped; по 44 browser-сценария на трёх движках.</a:t>
            </a:r>
          </a:p>
          <a:p xmlns:a="http://schemas.openxmlformats.org/drawingml/2006/main">
            <a:r>
              <a:t>VM runner: 28/28; три эталона прошли, три типовые ошибки убиты hidden cases.</a:t>
            </a:r>
          </a:p>
          <a:p xmlns:a="http://schemas.openxmlformats.org/drawingml/2006/main">
            <a:r>
              <a:t>Версии и команды: docs/release/2026-10-11-completion/verification.json; метод приёмки: docs/48-release-acceptance.md.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8:05–8:45.</a:t>
            </a:r>
          </a:p>
          <a:p xmlns:a="http://schemas.openxmlformats.org/drawingml/2006/main">
            <a:r>
              <a:t>Не заявлять цены, рыночные доли или завершённый человеческий пилот. Пустой шаблон пилота означает not-conducted.</a:t>
            </a:r>
          </a:p>
          <a:p xmlns:a="http://schemas.openxmlformats.org/drawingml/2006/main">
            <a:r>
              <a:t>Источники: docs/57-project-report.md; docs/50-completion-conformance.md; docs/50-completion-conformance.md.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Время: 8:45–10:00 вместе с коротким live-demo и переходом к вопросам.</a:t>
            </a:r>
          </a:p>
          <a:p xmlns:a="http://schemas.openxmlformats.org/drawingml/2006/main">
            <a:r>
              <a:t>Закройте тремя фактами: сквозной цикл работает; private oracle не раскрывается; ИИ не публикует и не оценивает окончательно без человека.</a:t>
            </a:r>
          </a:p>
          <a:p xmlns:a="http://schemas.openxmlformats.org/drawingml/2006/main">
            <a:r>
              <a:t>Открытый конкурсный выпуск: https://github.com/punkpsyh-hash/Fsp, ветка main, тег lct-2026-jury-v3. Код и материалы скачиваются без аккаунта и приглашений.</a:t>
            </a:r>
          </a:p>
          <a:p xmlns:a="http://schemas.openxmlformats.org/drawingml/2006/main">
            <a:r>
              <a:t>Для HTTPS-показа посетитель выбирает роль кандидата или работодателя, задаёт собственный пароль от 12 символов и сохраняет сгенерированный сервером логин jury-…@example.invalid.</a:t>
            </a:r>
          </a:p>
          <a:p xmlns:a="http://schemas.openxmlformats.org/drawingml/2006/main">
            <a:r>
              <a:t>Источники: docs/60-jury-submission.md; docs/50-completion-conformance.md.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744fb9e5204c08" /><Relationship Type="http://schemas.openxmlformats.org/officeDocument/2006/relationships/image" Target="/ppt/media/image2.png" Id="R731104fa9a744bd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0045c1e1c04c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bfd9d31fac483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bda44d0fca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cc06b19383442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2730367f2c4af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000973fefb41d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69aa9ec8ce42b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59acd478d040c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1c175d04f0436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a86572fff34c2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a4020d49214d42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ed389c5a474e35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0ed46c2ef842f6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40d21d84fc434d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d045bf80f6417e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3d04247b4f469b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c5cffd76a64de6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94c803e50d48e7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2a548f3f754b56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9fdef15e304da0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e0058f96f44157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73c4f1a12a4456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731104fa9a744bd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02.10.2026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02.10.2026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02.10.2026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02.10.2026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02.10.2026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02.10.2026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68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5445BF68-B710-4C59-ADE6-DD6E5A0164D7}"/>
              </a:ext>
            </a:extLst>
          </p:cNvPr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C27EE4C1-5640-4D64-84BF-A2B07D1D4D47}"/>
              </a:ext>
            </a:extLst>
          </p:cNvPr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38CEB43D-9430-4BBE-926D-6F6BD8ECF2B8}"/>
              </a:ext>
            </a:extLst>
          </p:cNvPr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CCD8AA5C-8FF5-44FA-AA8C-9C217340AAC0}"/>
              </a:ext>
            </a:extLst>
          </p:cNvPr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02.10.2026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400594cf119c4667" /><Relationship Type="http://schemas.openxmlformats.org/officeDocument/2006/relationships/theme" Target="/ppt/slideMasters/theme/theme2.xml" Id="Rca6cc3fb8b2e4629" /><Relationship Type="http://schemas.openxmlformats.org/officeDocument/2006/relationships/slideLayout" Target="/ppt/slideLayouts/slideLayout1.xml" Id="Rcc5e3e654e90498c" /><Relationship Type="http://schemas.openxmlformats.org/officeDocument/2006/relationships/slideLayout" Target="/ppt/slideLayouts/slideLayout2.xml" Id="R0f6f80d590ef4b03" /><Relationship Type="http://schemas.openxmlformats.org/officeDocument/2006/relationships/slideLayout" Target="/ppt/slideLayouts/slideLayout3.xml" Id="R12edf3f1de7e48b2" /><Relationship Type="http://schemas.openxmlformats.org/officeDocument/2006/relationships/slideLayout" Target="/ppt/slideLayouts/slideLayout4.xml" Id="Rb47914c143eb44fe" /><Relationship Type="http://schemas.openxmlformats.org/officeDocument/2006/relationships/slideLayout" Target="/ppt/slideLayouts/slideLayout5.xml" Id="Rd8a854a5ed504e8e" /><Relationship Type="http://schemas.openxmlformats.org/officeDocument/2006/relationships/slideLayout" Target="/ppt/slideLayouts/slideLayout6.xml" Id="Rb7d8bf5da2634bb9" /><Relationship Type="http://schemas.openxmlformats.org/officeDocument/2006/relationships/slideLayout" Target="/ppt/slideLayouts/slideLayout7.xml" Id="R5929dca6c5c54b52" /><Relationship Type="http://schemas.openxmlformats.org/officeDocument/2006/relationships/slideLayout" Target="/ppt/slideLayouts/slideLayout8.xml" Id="Ra204bb344c504482" /><Relationship Type="http://schemas.openxmlformats.org/officeDocument/2006/relationships/slideLayout" Target="/ppt/slideLayouts/slideLayout9.xml" Id="R3c69ae189e7d44a1" /><Relationship Type="http://schemas.openxmlformats.org/officeDocument/2006/relationships/slideLayout" Target="/ppt/slideLayouts/slideLayout10.xml" Id="R833d3f71e41747e2" /><Relationship Type="http://schemas.openxmlformats.org/officeDocument/2006/relationships/slideLayout" Target="/ppt/slideLayouts/slideLayout11.xml" Id="R40fde5a661e4450f" /><Relationship Type="http://schemas.openxmlformats.org/officeDocument/2006/relationships/slideLayout" Target="/ppt/slideLayouts/slideLayout12.xml" Id="R3df9fa6692a744c4" /><Relationship Type="http://schemas.openxmlformats.org/officeDocument/2006/relationships/slideLayout" Target="/ppt/slideLayouts/slideLayout13.xml" Id="Rd83c506e129d4e0b" /><Relationship Type="http://schemas.openxmlformats.org/officeDocument/2006/relationships/slideLayout" Target="/ppt/slideLayouts/slideLayout14.xml" Id="R0028fa2122434f01" /><Relationship Type="http://schemas.openxmlformats.org/officeDocument/2006/relationships/slideLayout" Target="/ppt/slideLayouts/slideLayout15.xml" Id="R06c4e590d55f446e" /><Relationship Type="http://schemas.openxmlformats.org/officeDocument/2006/relationships/slideLayout" Target="/ppt/slideLayouts/slideLayout16.xml" Id="R5bfb347babba44cb" /><Relationship Type="http://schemas.openxmlformats.org/officeDocument/2006/relationships/slideLayout" Target="/ppt/slideLayouts/slideLayout17.xml" Id="R94e7a2e0a59641b3" /><Relationship Type="http://schemas.openxmlformats.org/officeDocument/2006/relationships/slideLayout" Target="/ppt/slideLayouts/slideLayout18.xml" Id="Rda301ae73bf54b84" /><Relationship Type="http://schemas.openxmlformats.org/officeDocument/2006/relationships/slideLayout" Target="/ppt/slideLayouts/slideLayout19.xml" Id="Rc7bff4f5e3e84094" /><Relationship Type="http://schemas.openxmlformats.org/officeDocument/2006/relationships/slideLayout" Target="/ppt/slideLayouts/slideLayout20.xml" Id="Ra500a0e823ca4768" /><Relationship Type="http://schemas.openxmlformats.org/officeDocument/2006/relationships/slideLayout" Target="/ppt/slideLayouts/slideLayout21.xml" Id="R6ef1e8a47b484e3c" /><Relationship Type="http://schemas.openxmlformats.org/officeDocument/2006/relationships/slideLayout" Target="/ppt/slideLayouts/slideLayout22.xml" Id="R4008b21f8a734468" /><Relationship Type="http://schemas.openxmlformats.org/officeDocument/2006/relationships/slideLayout" Target="/ppt/slideLayouts/slideLayout23.xml" Id="R3e0769f736414e28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00594cf119c466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02.10.2026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5e3e654e90498c"/>
    <p:sldLayoutId xmlns:r="http://schemas.openxmlformats.org/officeDocument/2006/relationships" id="2147483650" r:id="R0f6f80d590ef4b03"/>
    <p:sldLayoutId xmlns:r="http://schemas.openxmlformats.org/officeDocument/2006/relationships" id="2147483651" r:id="R12edf3f1de7e48b2"/>
    <p:sldLayoutId xmlns:r="http://schemas.openxmlformats.org/officeDocument/2006/relationships" id="2147483652" r:id="Rb47914c143eb44fe"/>
    <p:sldLayoutId xmlns:r="http://schemas.openxmlformats.org/officeDocument/2006/relationships" id="2147483653" r:id="Rd8a854a5ed504e8e"/>
    <p:sldLayoutId xmlns:r="http://schemas.openxmlformats.org/officeDocument/2006/relationships" id="2147483654" r:id="Rb7d8bf5da2634bb9"/>
    <p:sldLayoutId xmlns:r="http://schemas.openxmlformats.org/officeDocument/2006/relationships" id="2147483655" r:id="R5929dca6c5c54b52"/>
    <p:sldLayoutId xmlns:r="http://schemas.openxmlformats.org/officeDocument/2006/relationships" id="2147483656" r:id="Ra204bb344c504482"/>
    <p:sldLayoutId xmlns:r="http://schemas.openxmlformats.org/officeDocument/2006/relationships" id="2147483657" r:id="R3c69ae189e7d44a1"/>
    <p:sldLayoutId xmlns:r="http://schemas.openxmlformats.org/officeDocument/2006/relationships" id="2147483658" r:id="R833d3f71e41747e2"/>
    <p:sldLayoutId xmlns:r="http://schemas.openxmlformats.org/officeDocument/2006/relationships" id="2147483659" r:id="R40fde5a661e4450f"/>
    <p:sldLayoutId xmlns:r="http://schemas.openxmlformats.org/officeDocument/2006/relationships" id="2147483660" r:id="R3df9fa6692a744c4"/>
    <p:sldLayoutId xmlns:r="http://schemas.openxmlformats.org/officeDocument/2006/relationships" id="2147483661" r:id="Rd83c506e129d4e0b"/>
    <p:sldLayoutId xmlns:r="http://schemas.openxmlformats.org/officeDocument/2006/relationships" id="2147483662" r:id="R0028fa2122434f01"/>
    <p:sldLayoutId xmlns:r="http://schemas.openxmlformats.org/officeDocument/2006/relationships" id="2147483663" r:id="R06c4e590d55f446e"/>
    <p:sldLayoutId xmlns:r="http://schemas.openxmlformats.org/officeDocument/2006/relationships" id="2147483664" r:id="R5bfb347babba44cb"/>
    <p:sldLayoutId xmlns:r="http://schemas.openxmlformats.org/officeDocument/2006/relationships" id="2147483665" r:id="R94e7a2e0a59641b3"/>
    <p:sldLayoutId xmlns:r="http://schemas.openxmlformats.org/officeDocument/2006/relationships" id="2147483666" r:id="Rda301ae73bf54b84"/>
    <p:sldLayoutId xmlns:r="http://schemas.openxmlformats.org/officeDocument/2006/relationships" id="2147483667" r:id="Rc7bff4f5e3e84094"/>
    <p:sldLayoutId xmlns:r="http://schemas.openxmlformats.org/officeDocument/2006/relationships" id="2147483668" r:id="Ra500a0e823ca4768"/>
    <p:sldLayoutId xmlns:r="http://schemas.openxmlformats.org/officeDocument/2006/relationships" id="2147483669" r:id="R6ef1e8a47b484e3c"/>
    <p:sldLayoutId xmlns:r="http://schemas.openxmlformats.org/officeDocument/2006/relationships" id="2147483670" r:id="R4008b21f8a734468"/>
    <p:sldLayoutId xmlns:r="http://schemas.openxmlformats.org/officeDocument/2006/relationships" id="2147483671" r:id="R3e0769f736414e28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26613c710a9449e" /><Relationship Type="http://schemas.openxmlformats.org/officeDocument/2006/relationships/image" Target="/ppt/media/image3.png" Id="Reb500f825e8146d7" /><Relationship Type="http://schemas.openxmlformats.org/officeDocument/2006/relationships/notesSlide" Target="/ppt/notesSlides/notesSlide1.xml" Id="Rc015b2ac66034a73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2.xml" Id="R4af84bfd98b44172" /><Relationship Type="http://schemas.openxmlformats.org/officeDocument/2006/relationships/image" Target="/ppt/media/image4.png" Id="R84b10d757fac43ea" /><Relationship Type="http://schemas.openxmlformats.org/officeDocument/2006/relationships/image" Target="/ppt/media/team-logo-studio37.png" Id="Rcfa4b7586e734654" /><Relationship Type="http://schemas.openxmlformats.org/officeDocument/2006/relationships/notesSlide" Target="/ppt/notesSlides/notesSlide2.xml" Id="Ra239da5105cd40d0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7ad1c3b660ce4235" /><Relationship Type="http://schemas.openxmlformats.org/officeDocument/2006/relationships/image" Target="/ppt/media/image.png" Id="R228bce3065024a03" /><Relationship Type="http://schemas.openxmlformats.org/officeDocument/2006/relationships/image" Target="/ppt/media/team-nikita-kolesnikov.png" Id="R0dbbdab94fff43c9" /><Relationship Type="http://schemas.openxmlformats.org/officeDocument/2006/relationships/image" Target="/ppt/media/team-egor-kruchinin.png" Id="Ra3fb1ec079ec4640" /><Relationship Type="http://schemas.openxmlformats.org/officeDocument/2006/relationships/image" Target="/ppt/media/team-lev-pavlov.png" Id="R3ea8ad8ff33042ed" /><Relationship Type="http://schemas.openxmlformats.org/officeDocument/2006/relationships/image" Target="/ppt/media/team-dmitry-vislyaev.png" Id="Rbe937358d6634f44" /><Relationship Type="http://schemas.openxmlformats.org/officeDocument/2006/relationships/notesSlide" Target="/ppt/notesSlides/notesSlide3.xml" Id="Rbb8ba15e33454f4b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1896377353c3461d" /><Relationship Type="http://schemas.openxmlformats.org/officeDocument/2006/relationships/image" Target="/ppt/media/image6.png" Id="R67b399304c144241" /><Relationship Type="http://schemas.openxmlformats.org/officeDocument/2006/relationships/notesSlide" Target="/ppt/notesSlides/notesSlide4.xml" Id="R7473194b7f534d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95728229c8014c3b" /><Relationship Type="http://schemas.openxmlformats.org/officeDocument/2006/relationships/image" Target="/ppt/media/image.png" Id="R40c27b3448e54297" /><Relationship Type="http://schemas.openxmlformats.org/officeDocument/2006/relationships/notesSlide" Target="/ppt/notesSlides/notesSlide5.xml" Id="R1477763ff13f43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b421d91911984fa7" /><Relationship Type="http://schemas.openxmlformats.org/officeDocument/2006/relationships/image" Target="/ppt/media/image.png" Id="R887bbec9a08d4d61" /><Relationship Type="http://schemas.openxmlformats.org/officeDocument/2006/relationships/notesSlide" Target="/ppt/notesSlides/notesSlide6.xml" Id="Rf00a37465cfb42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eb29058477ca4744" /><Relationship Type="http://schemas.openxmlformats.org/officeDocument/2006/relationships/image" Target="/ppt/media/image.png" Id="Rb370cd008807492f" /><Relationship Type="http://schemas.openxmlformats.org/officeDocument/2006/relationships/image" Target="/ppt/media/image7.png" Id="R4b0777d549a14437" /><Relationship Type="http://schemas.openxmlformats.org/officeDocument/2006/relationships/image" Target="/ppt/media/image8.png" Id="R19edf8fdbd674c91" /><Relationship Type="http://schemas.openxmlformats.org/officeDocument/2006/relationships/notesSlide" Target="/ppt/notesSlides/notesSlide7.xml" Id="R4bbbc4d6643e41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a764de33547f4ddb" /><Relationship Type="http://schemas.openxmlformats.org/officeDocument/2006/relationships/image" Target="/ppt/media/image.png" Id="R5c790a94234446dc" /><Relationship Type="http://schemas.openxmlformats.org/officeDocument/2006/relationships/image" Target="/ppt/media/image9.png" Id="R20db8d1090f649c4" /><Relationship Type="http://schemas.openxmlformats.org/officeDocument/2006/relationships/image" Target="/ppt/media/image10.png" Id="Re91735e8cb2d436e" /><Relationship Type="http://schemas.openxmlformats.org/officeDocument/2006/relationships/notesSlide" Target="/ppt/notesSlides/notesSlide8.xml" Id="R3e0bc87b3cce43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92f7f49251e4f57" /><Relationship Type="http://schemas.openxmlformats.org/officeDocument/2006/relationships/image" Target="/ppt/media/image.png" Id="Rd5fc4e413af7473b" /><Relationship Type="http://schemas.openxmlformats.org/officeDocument/2006/relationships/image" Target="/ppt/media/image11.png" Id="R00b5da9fe7924455" /><Relationship Type="http://schemas.openxmlformats.org/officeDocument/2006/relationships/image" Target="/ppt/media/image12.png" Id="Rc0f9724dfee04838" /><Relationship Type="http://schemas.openxmlformats.org/officeDocument/2006/relationships/notesSlide" Target="/ppt/notesSlides/notesSlide9.xml" Id="Re707b46b246c48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4a15860ed6204fd6" /><Relationship Type="http://schemas.openxmlformats.org/officeDocument/2006/relationships/image" Target="/ppt/media/image6.png" Id="Rcd92640fd22b4309" /><Relationship Type="http://schemas.openxmlformats.org/officeDocument/2006/relationships/notesSlide" Target="/ppt/notesSlides/notesSlide10.xml" Id="Rd27c4813b97043e1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3.xml" Id="R87cba1d46e5346b3" /><Relationship Type="http://schemas.openxmlformats.org/officeDocument/2006/relationships/image" Target="/ppt/media/image4.png" Id="R0b029276b8784d46" /><Relationship Type="http://schemas.openxmlformats.org/officeDocument/2006/relationships/notesSlide" Target="/ppt/notesSlides/notesSlide11.xml" Id="R2d20fb760bcb4b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0cd103ca91fb4ee9" /><Relationship Type="http://schemas.openxmlformats.org/officeDocument/2006/relationships/image" Target="/ppt/media/image.png" Id="Rf936eed0372a446a" /><Relationship Type="http://schemas.openxmlformats.org/officeDocument/2006/relationships/notesSlide" Target="/ppt/notesSlides/notesSlide12.xml" Id="Ra00dd61fb5e14df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4fd5f83b8b754eff" /><Relationship Type="http://schemas.openxmlformats.org/officeDocument/2006/relationships/image" Target="/ppt/media/image6.png" Id="Rdd8900d4c217488d" /><Relationship Type="http://schemas.openxmlformats.org/officeDocument/2006/relationships/image" Target="/ppt/media/image13.png" Id="Rd688f1bf685641d1" /><Relationship Type="http://schemas.openxmlformats.org/officeDocument/2006/relationships/image" Target="/ppt/media/image.svg" Id="Rc1d536c461f64385" /><Relationship Type="http://schemas.openxmlformats.org/officeDocument/2006/relationships/notesSlide" Target="/ppt/notesSlides/notesSlide13.xml" Id="Rb5f23a62bf624c7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b94a22c306c4c09" /><Relationship Type="http://schemas.openxmlformats.org/officeDocument/2006/relationships/image" Target="/ppt/media/image4.png" Id="Rbd92d3cda89e4f33" /><Relationship Type="http://schemas.openxmlformats.org/officeDocument/2006/relationships/notesSlide" Target="/ppt/notesSlides/notesSlide14.xml" Id="R3425b26f2ccf44a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62134362e2cb4208" /><Relationship Type="http://schemas.openxmlformats.org/officeDocument/2006/relationships/image" Target="/ppt/media/image.png" Id="Rd21bf85b57c14e2d" /><Relationship Type="http://schemas.openxmlformats.org/officeDocument/2006/relationships/notesSlide" Target="/ppt/notesSlides/notesSlide15.xml" Id="R622df4055da94bc8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1.xml" Id="R3b084e1384f1407f" /><Relationship Type="http://schemas.openxmlformats.org/officeDocument/2006/relationships/image" Target="/ppt/media/image6.png" Id="Rbfc3519cf24c46c7" /><Relationship Type="http://schemas.openxmlformats.org/officeDocument/2006/relationships/notesSlide" Target="/ppt/notesSlides/notesSlide16.xml" Id="R64031f512cba47c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</a:pP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61950" y="5657850"/>
            <a:ext cx="8572500" cy="762000"/>
          </a:xfrm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marL="271463" indent="-3175">
              <a:buNone/>
            </a:pPr>
            <a:r>
              <a:t>с верифицированным профилем достижений 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2BBDD1F4-C9D9-4C97-9839-EA570667D1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00f825e8146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6075" y="631174"/>
            <a:ext cx="4905194" cy="62003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04F81A-9BD0-46AC-B9F0-927829B6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КАРЬЕРНЫЙ ПРОФИЛЬ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9D24A4-3796-41DE-89EB-6F1D81F9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1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92000"/>
              </a:lnSpc>
              <a:buNone/>
              <a:defRPr sz="41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41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СТУДИЯ 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239B86-243B-4D8D-87E6-EC129350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5429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7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Цифровая платформа-агрегатор ИТ-вакансий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224B4F-66FB-4EBC-A01C-C6690FD1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63D1D2-BF19-476A-A7B1-B126BE4D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4b10d757fac43e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/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0" y="335267"/>
            <a:ext cx="6456363" cy="2971784"/>
          </a:xfrm>
        </p:spPr>
      </p:sp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/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/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6E15D6BC-C44B-42A5-9767-25DFBD03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29BB9A37-21C1-4915-ADD3-EECB585F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87A81813-2E2C-40B5-A6DB-05217ABB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/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69ADA83D-DF77-AA76-6DA0-7A70CD7A4D20}" type="slidenum">
              <a:rPr sz="1200">
                <a:solidFill>
                  <a:schemeClr val="accent5"/>
                </a:solidFill>
              </a:rPr>
              <a:t/>
            </a:fld>
            <a:endParaRPr sz="1200">
              <a:solidFill>
                <a:schemeClr val="accent5"/>
              </a:solidFill>
            </a:endParaRP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E40AE7-C8B9-4541-B3B2-9FC2426D8D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4b7586e73465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3375"/>
            <a:ext cx="6457950" cy="297180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B0CF6A-29B2-4E00-A282-24C829D4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314700"/>
            <a:ext cx="64579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E581C1-8286-4FD4-98B9-671C349B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4766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 КОМАНДЕ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F18200-B38A-4BB0-BDB4-1B9794F2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05250"/>
            <a:ext cx="56197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Капитан: Колесников Никита Юрьевич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Бакалавр 09.03.01 «Информатика и вычислительная техника»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Команда: «Студия 37», 4 участника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ГБПОУ МО «Луховицкий авиационный техникум»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38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Московская область, Луховицы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B182C9-DA0F-45DD-A857-29EF3F05C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914400"/>
            <a:ext cx="5238750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5586C3-A53D-432C-856F-64B2D22A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38225"/>
            <a:ext cx="5191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B42985-C445-403F-8DE3-8BD59B48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33475"/>
            <a:ext cx="4810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СТУДИЯ 37 · КАРЬЕРНЫЙ ПРОФИЛЬ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797CFD-2C23-46C1-9379-03D03CE4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0980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Кратко о решении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F1FFDD-92E1-4377-B8D5-6F68F635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4795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 подтверждает специализацию и грейд. Работодатель задаёт потребность команды, видит объяснение score и направляет приглашение. Контакт открывается после решения кандидата.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E65577-0AB4-40FB-8FBE-9A0C0F9F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7675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Уникальность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F228D2-1342-4C7F-8511-767C46BA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14900"/>
            <a:ext cx="4667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одном цикле объединены происхождение сигнала, отдельная практика, объяснимый подбор и явное согласие на раскрытие контакта.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207C4E-D9E9-46C3-A306-F7D7D943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0F4638-69D0-4F42-8DEE-6A85A160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28bce3065024a0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394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8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7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712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6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5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2" name="Скругленный прямоугольник 61">
            <a:extLst xmlns:a="http://schemas.openxmlformats.org/drawingml/2006/main"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031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5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4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5" name="Скругленный прямоугольник 64">
            <a:extLst xmlns:a="http://schemas.openxmlformats.org/drawingml/2006/main"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349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3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2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4C94D4FF-301C-477D-8018-73C5CC99D493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81397" y="1816054"/>
            <a:ext cx="1722566" cy="1552901"/>
          </a:xfrm>
        </p:spPr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2886467" y="1826554"/>
            <a:ext cx="1722566" cy="1542401"/>
          </a:xfrm>
        </p:spPr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191784" y="1809238"/>
            <a:ext cx="1722567" cy="1559717"/>
          </a:xfrm>
        </p:spPr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7520208" y="1809238"/>
            <a:ext cx="1722567" cy="1559717"/>
          </a:xfrm>
        </p:spPr>
      </p:sp>
      <p:sp>
        <p:nvSpPr>
          <p:cNvPr id="6" name="Рисунок 5">
            <a:extLst xmlns:a="http://schemas.openxmlformats.org/drawingml/2006/main"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9802422" y="1809238"/>
            <a:ext cx="1722566" cy="1559717"/>
          </a:xfrm>
        </p:spPr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18360" y="4250028"/>
            <a:ext cx="1894354" cy="162461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9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C05AC35-39FE-4BA3-A8B9-FB6B66CA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66800"/>
            <a:ext cx="12192000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A053914-BD53-411F-9318-B831104A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5720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8B94C27-4020-4CDD-84BF-2C85C38C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«СТУДИЯ 37»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C5B37DF-EE80-47B6-A588-A84AEE14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2533650" cy="438150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D6E4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6678D26-AF4B-4E3B-9818-FA0FC4AD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Никита</a:t>
            </a:r>
          </a:p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Колесников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BDCEF25-0B5C-4DE5-8E98-040A7D79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8DAB536-8629-4D4A-A65D-2659D49F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pPr>
            <a:r>
              <a: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rPr>
              <a:t>Координация и продукт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2341E18-510B-47EE-9C15-05439E95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428750"/>
            <a:ext cx="2533650" cy="438150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D6E4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0FFD67A-E7D2-42E3-AABA-10F14842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Егор</a:t>
            </a:r>
          </a:p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Кручинин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9A90876-B6BA-439F-B1D2-23C882E8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57650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Проектировщик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178ABBB-194A-4D15-9983-3D33C8FE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6482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pPr>
            <a:r>
              <a: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rPr>
              <a:t>Сценарии и структура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E025D9E-68F5-40D2-873D-AD01496D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28750"/>
            <a:ext cx="2533650" cy="438150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D6E4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A686A64-A8E4-4BF2-8FE5-A068756F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Лев</a:t>
            </a:r>
          </a:p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Павлов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1941960-AF49-4078-88B7-8D67EF7D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57650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Тестировщик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5D459AF-BA2E-46C8-917C-882E9BF7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482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pPr>
            <a:r>
              <a: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rPr>
              <a:t>Проверки и качество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2D1E8C5-2EE4-4890-9F69-4971E7FF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428750"/>
            <a:ext cx="2533650" cy="438150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D6E4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E495C8E-890A-4644-BF62-E78F257A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Дмитрий</a:t>
            </a:r>
          </a:p>
          <a:p xmlns:a="http://schemas.openxmlformats.org/drawingml/2006/main">
            <a:pPr algn="ctr">
              <a:buNone/>
              <a:def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Висляев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4A785C4-43A8-4410-8619-E6109913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0576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Технический писатель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50A67F7-562D-49A2-A5D7-670C1DC5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6482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pPr>
            <a:r>
              <a:rPr sz="120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rPr>
              <a:t>Документация и защита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731FD33-4199-484A-9189-4F941BEC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97DB8E5-18F2-4C77-8F3F-BD67883E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pic>
        <p:nvPic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1077AF9-2016-4586-ADB6-7E70E9B130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bdab94fff43c9"/>
          <a:srcRect xmlns:a="http://schemas.openxmlformats.org/drawingml/2006/main" l="0" t="450" r="0" b="4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1619250"/>
            <a:ext cx="1924050" cy="171450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pic>
        <p:nvPic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8A20CB5-B010-4F60-9D60-DF0F8912E4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b1ec079ec4640"/>
          <a:srcRect xmlns:a="http://schemas.openxmlformats.org/drawingml/2006/main" l="0" t="450" r="0" b="4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43325" y="1619250"/>
            <a:ext cx="1924050" cy="171450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pic>
        <p:nvPic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77F22B5-F0EC-4A40-B4E5-A7D3AAFBBD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8ad8ff33042ed"/>
          <a:srcRect xmlns:a="http://schemas.openxmlformats.org/drawingml/2006/main" l="0" t="450" r="0" b="4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1619250"/>
            <a:ext cx="1924050" cy="171450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pic>
        <p:nvPic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592B200-1341-46FC-A2EA-AF3EB8FC8B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937358d6634f44"/>
          <a:srcRect xmlns:a="http://schemas.openxmlformats.org/drawingml/2006/main" l="0" t="450" r="0" b="4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91675" y="1619250"/>
            <a:ext cx="1924050" cy="171450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7b399304c14424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/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/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E0471E8A-CBAC-4BDE-ADA7-F39660B4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7B5A68AB-6351-488D-8D69-1D270A42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B5F385A5-DC85-498E-8975-36DC826F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F1B462-2640-441C-8CBE-7AE09DF9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66800"/>
            <a:ext cx="12192000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1C2F3ED-93AF-4E6A-B459-26FE88F3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2862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8D09131-F32D-49EE-B9C5-F35EB4D0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«СТУДИЯ 37»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3BA64BE-4536-4221-8FC2-046677E7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95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AFAD1F-5714-48C1-B4A2-43283772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4001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28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Краткая история команды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CB8B122-A02B-4A78-8957-DB350B91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381125"/>
            <a:ext cx="666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Опыт совместного участия команды обучающихся и преподавателей. Заинтересовала возможность поработать над интересным и перспективным проектом.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580726-F77B-45BE-ACA0-7B9E1217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81275"/>
            <a:ext cx="9696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6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A62BDCB-A4DA-4828-B04B-EA9C71CB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43225"/>
            <a:ext cx="95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E47A80E-8B39-48D9-9901-342B506A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622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Выбор направления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793A5E4-522B-44E6-B1AC-B70A7A53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43225"/>
            <a:ext cx="666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Проект связывает достижения ФСП с профессиональной оценкой, не превращая спортивный сигнал в автоматическое повышение грейда.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A61C81B-1F01-436F-8037-3FA799C7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43375"/>
            <a:ext cx="9696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6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647D022-5D50-4F23-97BC-FAC4B555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05325"/>
            <a:ext cx="95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75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85921B9-ACDD-4731-8A2C-D37A2087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243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Главные вызовы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2989B46-CCBF-4E41-9ECA-0B89534E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05325"/>
            <a:ext cx="666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 раскрывать эталонные ответы; создавать новую форму для повторной проверки; выполнять код в отдельной VM; отделять локальный mock ФСП от будущей внешней интеграции.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CE55B87-FD9C-45EC-AF15-30D79E405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7C420C7-29FF-4933-991B-9500BFE9E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0c27b3448e5429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chemeClr val="tx1"/>
                </a:solidFill>
              </a:rPr>
              <a:t/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chemeClr val="tx1"/>
                </a:solidFill>
              </a:rPr>
              <a:t/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BDF512-1618-4B48-ACC1-325E5509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7625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B29A9B-1405-4778-A188-947794A7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КОРОТКО О РЕШЕНИИ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FC72AA-87A7-4794-82B3-EF141FDE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381125"/>
            <a:ext cx="5124450" cy="461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345A96-9E9E-494A-8C43-811AF992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124450" cy="461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23BCB0-8B9D-4776-A2A3-0946FA4B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Техническая суть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7FD99F-E9F3-4B1A-B41B-90CE71F9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4572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FastAPI, PostgreSQL 16 и React/TypeScript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оценка специализации и грейда с повторной формой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объяснимый score под конкретную потребность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практика Python, JavaScript и SQLite в одноразовой VM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Qwen3-4B помогает автору, публикацию подтверждает человек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E90471-DDEF-45C4-B84A-7B6D7158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50495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Применение и развитие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E987C5-3593-41FC-8BE3-F1AD3299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09800"/>
            <a:ext cx="45529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конкурсный продукт на синтетических данных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пилот: интервью и реальные описания потребностей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внешняя интеграция ФСП — после регистрации собственного client и контракта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HTTPS-показ жюри работает через российский VPS и NAS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production и человеческий пилот пока не заявляются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E178B8-5325-4E19-9FC2-7CED33B1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A0060A-1784-433E-86F5-327270F2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87bbec9a08d4d6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AD61D5C9-2EBC-4F1E-BD45-C7299ACC85AA}"/>
              </a:ext>
            </a:extLst>
          </p:cNvPr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cxnSp>
        <p:nvCxnSpPr>
          <p:cNvPr id="14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C82BFE3D-C94D-431C-9F19-999A06F02DA6}"/>
              </a:ext>
            </a:extLst>
          </p:cNvPr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4B40927-2EE9-4D65-A483-4080F8E6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37147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49C9982-7A60-486B-8947-CC68550D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ЦЕЛЕВОЙ ЦИКЛ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00BADD8-DFEB-42AE-A91C-B9E08372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60FD22B-BDED-477D-92E0-4DFA18D8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Кандидат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04E7E4B-A4F1-46A9-B862-DCD1428B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Профиль и опрос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Оценка навыков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Публикация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BF7EE72-D36E-41DE-BCE6-4482F927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44780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16AA4EC-DE00-4508-939C-CBF26650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812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Работодатель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DF5A3B1-DC1B-4DD3-96F7-7EEC21CC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0515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Потребность команды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Фильтры и score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Объяснение совпадения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6F9AD47-D68D-41E3-85E7-74064B77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4780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316D34B-DFED-48DB-A042-E6F412E80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812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Договорённость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8A3F149-6D2B-4775-8F5F-6FAEAD5D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0515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Приглашение и условия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Решение кандидата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 и диалог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5C830124-EDEF-49A8-935E-00E62F50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391150"/>
            <a:ext cx="8667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8F71818-6C00-40AC-BBE1-F312A75C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467350"/>
            <a:ext cx="836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625"/>
          </a:bodyPr>
          <a:lstStyle xmlns:a="http://schemas.openxmlformats.org/drawingml/2006/main">
            <a:defPPr algn="ctr">
              <a:defRPr sz="13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Score объясняет соответствие конкретному запросу. Он не является вероятностью найма.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5D7645B-9E88-4564-A59D-E3B36C96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A1A610B-53CA-4908-9983-7F159B5E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370cd008807492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266006"/>
            <a:ext cx="5354638" cy="6331643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2700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 xmlns:a="http://schemas.openxmlformats.org/drawingml/2006/main"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040" y="496888"/>
            <a:ext cx="4781233" cy="4159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6096001" y="0"/>
            <a:ext cx="6096000" cy="6857999"/>
          </a:xfrm>
        </p:spPr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595433" y="1143695"/>
            <a:ext cx="4807840" cy="47173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67BCEC-7E73-4E30-8BCA-49282871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65722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BA0CB3-EB1A-4401-A97F-031B829A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КАНДИДАТ: ОТ ВХОДА К ДОКАЗАТЕЛЬСТВАМ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ED095-8F16-4FCB-8049-1722304ED3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0777d549a14437"/>
          <a:stretch xmlns:a="http://schemas.openxmlformats.org/drawingml/2006/main"/>
        </p:blipFill>
        <p:spPr>
          <a:xfrm xmlns:a="http://schemas.openxmlformats.org/drawingml/2006/main">
            <a:off x="776288" y="1381125"/>
            <a:ext cx="4800600" cy="333375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36A560-F19C-4254-A0ED-B54C0977EB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df8fdbd674c91"/>
          <a:stretch xmlns:a="http://schemas.openxmlformats.org/drawingml/2006/main"/>
        </p:blipFill>
        <p:spPr>
          <a:xfrm xmlns:a="http://schemas.openxmlformats.org/drawingml/2006/main">
            <a:off x="6624638" y="1381125"/>
            <a:ext cx="4800600" cy="33337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6948F3-473B-447E-BA65-77ECB3FE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Старт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8DA797-D9A8-4B0E-9774-C40699E6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Демо-кабинет показывает локальный продукт и синтетические данные.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3514D-AA0D-4F56-A6DC-48C71572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Профиль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799DD9-9F56-4056-BBFB-EE270AB3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Самоописание, оценка, практика и ФСП-сигнал показаны раздельно.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3CA4E9-CCC6-4836-8877-1320853E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EFB051-3677-40C3-9EB7-A222809C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c790a94234446d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266006"/>
            <a:ext cx="5354638" cy="6331643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2700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 xmlns:a="http://schemas.openxmlformats.org/drawingml/2006/main"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040" y="496888"/>
            <a:ext cx="4781233" cy="4159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6096001" y="0"/>
            <a:ext cx="6096000" cy="6857999"/>
          </a:xfrm>
        </p:spPr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595433" y="1143695"/>
            <a:ext cx="4807840" cy="47173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D31B0F-2B12-4772-82EF-4D53054E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61912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B67F1-3B06-4FAB-825C-B2D236DD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РАБОТОДАТЕЛЬ И СОГЛАСИЕ НА КОНТАКТ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AEBFB0-4B53-4563-8DA9-D55569DAFC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db8d1090f649c4"/>
          <a:stretch xmlns:a="http://schemas.openxmlformats.org/drawingml/2006/main"/>
        </p:blipFill>
        <p:spPr>
          <a:xfrm xmlns:a="http://schemas.openxmlformats.org/drawingml/2006/main">
            <a:off x="776288" y="1381125"/>
            <a:ext cx="4800600" cy="333375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7C06FC-3658-47BE-B329-607451C7EA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735e8cb2d436e"/>
          <a:stretch xmlns:a="http://schemas.openxmlformats.org/drawingml/2006/main"/>
        </p:blipFill>
        <p:spPr>
          <a:xfrm xmlns:a="http://schemas.openxmlformats.org/drawingml/2006/main">
            <a:off x="6624638" y="1381125"/>
            <a:ext cx="4800600" cy="33337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7F207E-FDC6-48FD-8E6B-F839C33F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Объяснимый подбор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E7C9D7-E56E-4A81-98B8-A270838A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Фильтры, обязательные и желательные навыки, задачи команды и бюджет.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3FAD95-34BF-4D96-B048-066B5E00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Приватность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D4AC63-35E3-4E5C-B2F2-E11EFE23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Публикация профиля не открывает контакт; решение принимается отдельно.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674B46-6016-42EE-8701-ADCFC4A6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CD64C5-DCDB-448C-8B5D-F980E7D1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5fc4e413af7473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266006"/>
            <a:ext cx="5354638" cy="6331643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2700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 xmlns:a="http://schemas.openxmlformats.org/drawingml/2006/main"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040" y="496888"/>
            <a:ext cx="4781233" cy="4159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6096001" y="0"/>
            <a:ext cx="6096000" cy="6857999"/>
          </a:xfrm>
        </p:spPr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595433" y="1143695"/>
            <a:ext cx="4807840" cy="47173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21810-D213-4F63-AB18-79A0B407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7625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C80A4-3819-4220-913C-16FDE8B7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КОНСТРУКТОР И ПРАКТИКА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5832E5-6BEE-4BB4-B394-5F02D98762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5da9fe7924455"/>
          <a:stretch xmlns:a="http://schemas.openxmlformats.org/drawingml/2006/main"/>
        </p:blipFill>
        <p:spPr>
          <a:xfrm xmlns:a="http://schemas.openxmlformats.org/drawingml/2006/main">
            <a:off x="776288" y="1381125"/>
            <a:ext cx="4800600" cy="333375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3DD5D1-11E8-4A82-A9B8-9CB4E672AC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9724dfee04838"/>
          <a:stretch xmlns:a="http://schemas.openxmlformats.org/drawingml/2006/main"/>
        </p:blipFill>
        <p:spPr>
          <a:xfrm xmlns:a="http://schemas.openxmlformats.org/drawingml/2006/main">
            <a:off x="6624638" y="1381125"/>
            <a:ext cx="4800600" cy="33337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7EB80-BF28-44F9-BFD2-51254214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Банк заданий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BD7BCA-C0C9-442A-9D48-F09C06D1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Автор создаёт, импортирует, проверяет и публикует наборы.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E68358-6A42-46A0-BDB3-96102D92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53000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Одноразовая VM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F33C46-A419-4D17-A6DA-83C57428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816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Python, JavaScript и SQLite; практика не меняет подтверждённый грейд.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4C35B3-0731-4B1F-8B53-16F2FF26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1D0EBC-A6E9-44FD-B66A-A5A42A84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d92640fd22b430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87D3EB-D970-44CC-85CF-B9B465FC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58102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448EDB-D0F1-4DC7-BBB8-D13E49C2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42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ОЦЕНКА НАВЫКОВ И УСТОЙЧИВОСТЬ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9E9135-9BA1-4D6A-87FD-16131D74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Публичная форма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D6CB8C-5B64-4BFD-8A47-8604F88D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19375"/>
            <a:ext cx="2857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Только id, skill, title и options. Family, параметры, ответы и explanation остаются на сервере.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9A958B-046F-4CAB-AEF8-977D9059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907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Integrity-сигналы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5C5B6F-AA3F-4F23-8F33-3DC0D202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19375"/>
            <a:ext cx="2857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Сервер считает время и ждёт сохранения. Сигналы — эвристика, а не прокторинг.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EDDBBA-0B49-4297-A02C-0BF68EA7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7907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Повторная форма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4F5606-9ADF-4A12-BDF6-2AE50421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19375"/>
            <a:ext cx="2857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Полоса ±6 запускает вторую форму. После второго held следующий recheck закрыт на 14 суток.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582635-893F-4430-AAE5-75A348CF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334000"/>
            <a:ext cx="101917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B41784-B9E0-4184-9FB1-1D8E550B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5410200"/>
            <a:ext cx="988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scenarios-v6: 32 000 переносов ответа → 4 raw pass → 0 подтверждений; 18 вторых форм → 0 подтверждений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AE44C9-5E7B-429A-94CC-815AF53E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2E406A-59AF-43F5-841B-B3389C22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b029276b8784d4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t/>
            </a:r>
            <a:endParaRPr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FAC6C9-839C-41A1-9219-90D951B7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5953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B17B4A-F309-40F9-97F5-DBEC2872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57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ФСП-СИГНАЛ, ВХОД И ПРИВАТНОСТЬ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93B73F-C9E1-4007-B3E9-C0B1611E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90625"/>
            <a:ext cx="11582400" cy="509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A48096-6087-4D16-AC42-9ECE87D3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52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Связь с ФСП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91AA63-AE7A-4F7E-BE52-4A5A03ED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352550"/>
            <a:ext cx="838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Локальный mock OIDC code + PKCE с четырьмя состояниями. Реального API достижений и регистрации собственного client пока нет.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E9E9BB-0E9F-425F-84B2-AD824EE8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Вход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D217AD-EA8A-4BD8-B350-4780AB59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66950"/>
            <a:ext cx="838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 стенде жюри: выберите роль кандидата или работодателя, задайте пароль от 12 символов и подтвердите работу с синтетическими данными.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C2E309-5182-4586-8765-1079B96F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Логин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B3B168-7E1E-47B8-91A7-0490F5CD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81350"/>
            <a:ext cx="838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Сервер создаёт уникальный логин jury-…@example.invalid; посетитель сохраняет его. Реальные email, SMTP и внешняя проверка почты не используются.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129548-FBB1-4B34-9F0A-205A8F27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Контакты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66DA45-C914-49F2-888E-9FC04625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095750"/>
            <a:ext cx="838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Работодатель получает контакт после принятия приглашения или самостоятельного отклика кандидата.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0AC0F4-A960-4A9D-B0C0-5690DE5C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101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Статус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C2C64B0-CB7B-4E45-A1F4-427EF0D0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010150"/>
            <a:ext cx="838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 стенде жюри — индивидуальная регистрация. Полный локальный режим включает подтверждение адреса через mock-почту.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7931A9-3296-4C28-B695-4B89B01A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A1EA76-9A45-416A-9958-F8FB7CA1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936eed0372a446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425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 xmlns:a="http://schemas.openxmlformats.org/drawingml/2006/main"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3123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bg1"/>
                </a:solidFill>
              </a:rPr>
              <a:t/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520913" y="2339783"/>
            <a:ext cx="2284071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20913" y="3128740"/>
            <a:ext cx="2284071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3457903" y="2373557"/>
            <a:ext cx="233741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3457903" y="3134070"/>
            <a:ext cx="233741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6456363" y="2379657"/>
            <a:ext cx="2268537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456363" y="3136604"/>
            <a:ext cx="2268537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9407534" y="2339783"/>
            <a:ext cx="226355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9407534" y="3128739"/>
            <a:ext cx="226355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772416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3449944" y="1766200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456363" y="1766043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9407534" y="1772416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0B1C45-955B-4088-B31F-91993AF7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810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F8F8BD-1893-4D9B-B70C-514F8012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442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ИИ КАК ПОМОЩНИК АВТОРА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368B73-091D-4137-B6FA-241B0ACB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Черновик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132EFB-EC4D-40BF-84FD-F74FAD35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2076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Qwen3-4B предлагает private draft. Публикация остаётся отдельным действием.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6F9CCE-92AE-42B7-81FC-1AF97645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2880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Сборка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C1370A-5A14-40FE-A313-EB76F64B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19375"/>
            <a:ext cx="2076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Модель возвращает solution; сервер собирает варианты и ключ по единым правилам.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8CE276-6C7B-46C8-B7EE-01118743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2880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Guard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AB4DBE-BA75-4E98-90A3-5DFF6EC8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2076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Unicode-уникальность; multiple — 2..N−1 верных; rubric — 0 / partial / 100.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0BB37A-00BA-4A7E-861F-8F242415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2880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Человек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641796-30DF-445E-B32B-2399A762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19375"/>
            <a:ext cx="2076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75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Неоднозначный draft можно сохранить, но нельзя publish без исправления и решения автора.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122EDB-7CD9-44EC-A0D6-75154C8A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86375"/>
            <a:ext cx="971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D4BB19-F59B-4056-9E25-E9E76BF3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62575"/>
            <a:ext cx="9410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Живой кейс: модель предложила 65/100; автор зафиксировал 100. Профиль и грейд не изменились.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9CB262-F723-4BF6-A790-B097906D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7E2223-227F-4546-9ABA-D37B5439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d8900d4c217488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34E17A-E99F-4B03-8284-68503FFD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5572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5209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FBD2E2-69AE-42DA-833D-FB9D3C36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АРХИТЕКТУРА И РАЗВЁРТЫВАНИЕ</a:t>
            </a:r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A978B0-17A8-473B-8222-16EE75E816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88f1bf685641d1">
            <a:extLst>
              <a:ext uri="{96DAC541-7B7A-43D3-8B79-37D633B846F1}">
                <asvg:svgBlip xmlns:asvg="http://schemas.microsoft.com/office/drawing/2016/SVG/main" r:embed="Rc1d536c461f6438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5300" y="1447800"/>
            <a:ext cx="5619750" cy="390525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761F09-EEFA-493F-874E-922E208F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478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Основной стенд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C197C5-1D27-48A1-B690-900D8D0D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476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Docker Compose; FastAPI, React и PostgreSQL 16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API и база опубликованы только на loopback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VM runner изолирован от основного API и файлов NAS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Qwen3-4B на Windows GPU подключается через Unix socket и ключ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локальная модель опциональна для основного продукта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425368-4B76-4388-A2A3-D0EDD88C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14950"/>
            <a:ext cx="4667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D091A3-EA08-46C3-AD40-8349D59E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391150"/>
            <a:ext cx="436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HTTPS-показ жюри: NAS → SSH → российский VPS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354608-AC79-4129-BA9C-93EF3C2C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B9B2CA-6E8D-40A4-8589-61D3B5FF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1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d92d3cda89e4f3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25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718E713E-F0F9-43B9-8E19-2ACDF8CF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3D9290FC-8E12-473A-BF42-1B8B99AA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E08A9B29-5C42-4B4F-9CEC-1820C605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5E90E146-7D96-4390-8BE0-9CE618CF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5EB67853-009F-4753-A3F4-1B6CA329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5B7F4404-6FB6-47B6-B5BF-2D0A110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7BC26E5E-7232-4CFC-954B-2EA2AB59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064881F7-B20E-4250-BF04-33FB71FF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0A73D433-0F1A-4D49-96B8-E765B69C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6B26989-A054-4361-B7E8-3AB1934E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6715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CF4464D-FD70-4F01-A183-3602FD36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6334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ПРИЁМКА БАЗОВОГО ВЫПУСКА · 11.10.2026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7160118-E2E5-4A8A-89EA-953C6AE0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190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410 + 2 skip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0716267-B9C0-488C-B600-6BFAB834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SQLite · 6 подтестов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C20E351-5251-49C7-8ED5-26B6DF1B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190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411 + 1 skip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AE1A428-8C83-45AF-9049-D7B8AA22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7813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PostgreSQL 16 · 6 подтестов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132804A-0370-4401-8191-23886243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90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132 / 132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CEA18BE-1181-40D2-B3D2-32B765FE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7813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Chromium · Firefox · WebKit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F254FA1-443E-4D84-AFE9-C77544F4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190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28 / 28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26DB53-7136-4DB4-9101-E0D75181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7813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VM runner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2F8F52C-A7DA-44AD-9D03-32696899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190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3 + 3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9E29C17-D104-4013-B0A0-91E426B9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81300"/>
            <a:ext cx="198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125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эталоны + типовые ошибки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ACD5646-D800-4871-9218-27CF3D2F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05375"/>
            <a:ext cx="10191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C3355D7-C25E-4C1C-92D6-E94CEBF4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81575"/>
            <a:ext cx="9886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Все команды завершились exit 0. Данные синтетические; это не пилот с людьми, не сертификация качества найма и не внешний security review.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87D7613-F0F4-44C8-AFEF-CA1FA96D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85787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125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pPr>
            <a:r>
              <a:rPr sz="1125" b="0" i="0">
                <a:solidFill>
                  <a:srgbClr val="5D5663"/>
                </a:solidFill>
                <a:latin typeface="Montserrat"/>
                <a:ea typeface="Montserrat"/>
                <a:cs typeface="Montserrat"/>
              </a:rPr>
              <a:t>Полные протоколы и версии кода сохранены в docs/release/2026-10-11-completion/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AE1068F-82E6-4C29-9EAB-FE4233DF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3B36EA2-6B44-4E28-8209-3579F459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1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21bf85b57c14e2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AD61D5C9-2EBC-4F1E-BD45-C7299ACC85AA}"/>
              </a:ext>
            </a:extLst>
          </p:cNvPr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cxnSp>
        <p:nvCxnSpPr>
          <p:cNvPr id="14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C82BFE3D-C94D-431C-9F19-999A06F02DA6}"/>
              </a:ext>
            </a:extLst>
          </p:cNvPr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F865324-FAF8-40F3-B5F4-DDEA814A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49530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71976F8-BDDD-49EA-A8DA-6C945854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ПИЛОТ И БИЗНЕС-ГИПОТЕЗА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E1802DC-E258-4339-9445-F3C880D5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10FC283-DDAC-46C8-88BA-A3EE50A2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Для кого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1079DD40-D090-493E-82C8-03356922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Кандидаты Junior/Middle и команды с регулярным наймом в одном-двух стеках.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4C1D3C6-95D8-42AF-AC22-9F13478E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0495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B10EAD7-A539-41C7-9408-DECC9D00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28875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Ценность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CFF3BDE-013E-4FCB-9C96-3E7EB65AB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43250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Кандидат переносит доказательства. Работодатель быстрее приходит к релевантному разговору.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C8D236E-2845-4FCE-B790-A52CE58F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50495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7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8673132-1FF0-4EEE-BAF4-22E36A5C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28875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def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defRPr>
            </a:pPr>
            <a:r>
              <a:rPr sz="1950" b="1" i="0">
                <a:solidFill>
                  <a:srgbClr val="FFD6E4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D18E128-AC7E-45EA-854C-AD7B463D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43250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Интервью и реальные описания потребностей; затем ограниченный пилот по согласованным критериям.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2455C84-7658-48C3-9049-69B2EE78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34000"/>
            <a:ext cx="9239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3280F92-445E-4351-98AA-AEF70263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54102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Параметры пилота и монетизация — проверяемые гипотезы, а не достигнутый рыночный результат.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DC05590-E766-404A-B1B5-01C296FD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0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9E5397C-641D-4B1C-966C-F81AE1AC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def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slides/slide1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fc3519cf24c46c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9ADA83D-DF77-AA76-6DA0-7A70CD7A4D20}" type="slidenum">
              <a:rPr>
                <a:solidFill>
                  <a:schemeClr val="accent5"/>
                </a:solidFill>
              </a:rPr>
              <a:t/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8EB000-3747-47C6-803E-DDD12937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3850"/>
            <a:ext cx="581025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5209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EEC490-A79D-4520-8315-A946FF8D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42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ЧТО УЖЕ РАБОТАЕТ И ЧТО ДАЛЬШЕ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BC95B1-5054-4099-B7E3-76A90E08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Работает сейчас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245C03-AC7D-4BAD-814E-E7B5F2A6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9075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происхождение сигнала видно в профиле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score объясняет совпадения и пробелы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контакт открывается после решения кандидата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публичная форма не раскрывает private oracle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ИИ-черновик проходит guard и решение автора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388E13-DA87-421F-9261-2917509B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4287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l">
              <a:buNone/>
              <a:def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Следующие границы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FE5F8-34AC-40B4-A87B-9FCDF2D5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независимая экспертная калибровка и пилот с людьми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собственный OIDC client и контракт ФСП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production security review и эксплуатационный мониторинг</a:t>
            </a:r>
          </a:p>
          <a:p xmlns:a="http://schemas.openxmlformats.org/drawingml/2006/main">
            <a:pPr marL="228600" indent="-114300">
              <a:lnSpc>
                <a:spcPct val="104000"/>
              </a:lnSpc>
              <a:spcAft>
                <a:spcPts val="700"/>
              </a:spcAft>
              <a:buNone/>
              <a:defRPr sz="135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ручная проверка экранным диктором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FBF9FB-FD64-4D8A-80A7-3FB11E2C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76875"/>
            <a:ext cx="914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9B98D6-4D4F-40C8-9125-94D43202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514975"/>
            <a:ext cx="8839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63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163" b="1" i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63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fsptest.kolesnikovny.ru: выберите роль, задайте свой пароль и сохраните выданный логин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22E1BF-B02D-44BA-9BE0-1A713D60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0960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D5663"/>
                </a:solidFill>
                <a:latin typeface="Montserrat"/>
                <a:ea typeface="Montserrat"/>
                <a:cs typeface="Montserrat"/>
              </a:rPr>
              <a:t>Открытый репозиторий и материалы: github.com/punkpsyh-hash/Fsp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7174EF-8CD8-4A2E-BF82-7BEA0564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48400"/>
            <a:ext cx="8858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415073-04B1-47F1-ACA5-791F910A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198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algn="ctr">
              <a:buNone/>
              <a:def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050" b="0" i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2026-10-11T11:26:54.9840000Z</dcterms:created>
  <dcterms:modified xsi:type="dcterms:W3CDTF">2026-10-11T11:26:54.9840000Z</dcterms:modified>
</coreProperties>
</file>